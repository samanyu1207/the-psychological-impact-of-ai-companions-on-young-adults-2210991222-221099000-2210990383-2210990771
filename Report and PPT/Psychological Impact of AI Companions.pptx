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441716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Psychological Impact of AI Companions on Young Adults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Akriti Sharma, Aarav Sharma, Harshdeep Singh, Samanyu Sharma</a:t>
            </a:r>
          </a:p>
          <a:p>
            <a:pPr algn="ctr"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2210991222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, 2210990009, 2210990383, 2210990771</a:t>
            </a:r>
          </a:p>
          <a:p>
            <a:pPr algn="ctr"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Preeti Saini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64008" y="0"/>
            <a:ext cx="1579907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b="1" dirty="0"/>
              <a:t>01 - Background</a:t>
            </a:r>
          </a:p>
          <a:p>
            <a:r>
              <a:rPr lang="en-US" sz="2000" dirty="0"/>
              <a:t>AI companions (</a:t>
            </a:r>
            <a:r>
              <a:rPr lang="en-US" sz="2000" dirty="0" err="1"/>
              <a:t>Replika</a:t>
            </a:r>
            <a:r>
              <a:rPr lang="en-US" sz="2000" dirty="0"/>
              <a:t>, Character.AI, </a:t>
            </a:r>
            <a:r>
              <a:rPr lang="en-US" sz="2000" dirty="0" err="1"/>
              <a:t>Xiaoice</a:t>
            </a:r>
            <a:r>
              <a:rPr lang="en-US" sz="2000" dirty="0"/>
              <a:t>) are deeply embedded in the daily lives of young adults aged 18–25. This paper examines their psychological impact through a qualitative and descriptive analysis of secondary data.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02 - The Conflict</a:t>
            </a:r>
          </a:p>
          <a:p>
            <a:r>
              <a:rPr lang="en-US" sz="2000" dirty="0"/>
              <a:t>The same mechanisms that produce therapeutic benefits - emotional validation, social presence, and reduced fear of judgment - also drive pathological outcomes like dependency and social withdrawal.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03 - Key Conclusion</a:t>
            </a:r>
          </a:p>
          <a:p>
            <a:r>
              <a:rPr lang="en-US" sz="2000" dirty="0"/>
              <a:t>Usage intensity and user vulnerability are the critical moderating variables. A balanced approach encouraging healthy human interaction alongside responsible, time-limited AI use is essential.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68BFE-6194-C2A9-016D-054B11C1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3A53F80-139D-FF0A-FDE3-484790862774}"/>
              </a:ext>
            </a:extLst>
          </p:cNvPr>
          <p:cNvSpPr txBox="1"/>
          <p:nvPr/>
        </p:nvSpPr>
        <p:spPr>
          <a:xfrm>
            <a:off x="164008" y="0"/>
            <a:ext cx="2338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0B40C91-8790-393E-11FC-58307B9D1A4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61110E6-47E1-16A2-A23D-2B69F6E76D2A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b="1" dirty="0"/>
              <a:t>What Are AI Companions?</a:t>
            </a:r>
          </a:p>
          <a:p>
            <a:r>
              <a:rPr lang="en-US" sz="2000" dirty="0"/>
              <a:t>Software systems designed to simulate human-like conversation, provide emotional support, and offer companionship through NLP and machine learning.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Prominent Platforms</a:t>
            </a:r>
          </a:p>
          <a:p>
            <a:r>
              <a:rPr lang="en-US" sz="2000" b="1" dirty="0" err="1"/>
              <a:t>Replika</a:t>
            </a:r>
            <a:r>
              <a:rPr lang="en-US" sz="2000" dirty="0"/>
              <a:t>: 40M+ registered users</a:t>
            </a:r>
            <a:br>
              <a:rPr lang="en-US" sz="2000" dirty="0"/>
            </a:br>
            <a:r>
              <a:rPr lang="en-US" sz="2000" b="1" dirty="0"/>
              <a:t>Character</a:t>
            </a:r>
            <a:r>
              <a:rPr lang="en-US" sz="2000" dirty="0"/>
              <a:t>.AI: 20M monthly active users</a:t>
            </a:r>
            <a:br>
              <a:rPr lang="en-US" sz="2000" dirty="0"/>
            </a:br>
            <a:r>
              <a:rPr lang="en-US" sz="2000" b="1" dirty="0" err="1"/>
              <a:t>Xiaoice</a:t>
            </a:r>
            <a:r>
              <a:rPr lang="en-US" sz="2000" b="1" dirty="0"/>
              <a:t> (Microsoft): </a:t>
            </a:r>
            <a:r>
              <a:rPr lang="en-US" sz="2000" dirty="0"/>
              <a:t>660M registrations in China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AI companion downloads surged 14× year-over-year in 2023, reaching approximately 600M globally by early 2025.</a:t>
            </a:r>
          </a:p>
        </p:txBody>
      </p:sp>
    </p:spTree>
    <p:extLst>
      <p:ext uri="{BB962C8B-B14F-4D97-AF65-F5344CB8AC3E}">
        <p14:creationId xmlns:p14="http://schemas.microsoft.com/office/powerpoint/2010/main" val="318383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97BD0-309E-1C42-42D5-83CB37F70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1374343-BFB5-F565-320F-C2DA7AB58D5B}"/>
              </a:ext>
            </a:extLst>
          </p:cNvPr>
          <p:cNvSpPr txBox="1"/>
          <p:nvPr/>
        </p:nvSpPr>
        <p:spPr>
          <a:xfrm>
            <a:off x="0" y="0"/>
            <a:ext cx="3236495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this Matters?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F026C5C-0AB7-1E14-44F5-891ABBB86AF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016E884-361C-5BA4-76AE-EC1C144E7E9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U.S. Surgeon General declared loneliness a public health epidemic in 2023 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61% of adults aged 18–25 report experiencing serious loneliness 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COVID-19 caused a 26–28% spike in anxiety among Generation Z</a:t>
            </a:r>
            <a:br>
              <a:rPr lang="en-US" sz="2000" dirty="0"/>
            </a:br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42% of users find AI easier to talk to than humans 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18-24 year olds account for 65%+ of the global AI companion audience </a:t>
            </a:r>
          </a:p>
        </p:txBody>
      </p:sp>
    </p:spTree>
    <p:extLst>
      <p:ext uri="{BB962C8B-B14F-4D97-AF65-F5344CB8AC3E}">
        <p14:creationId xmlns:p14="http://schemas.microsoft.com/office/powerpoint/2010/main" val="2820165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2E227-25E2-51F0-8B59-318C2821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024F3B3-81A2-099C-EF1B-4B0B3C0A6E32}"/>
              </a:ext>
            </a:extLst>
          </p:cNvPr>
          <p:cNvSpPr txBox="1"/>
          <p:nvPr/>
        </p:nvSpPr>
        <p:spPr>
          <a:xfrm>
            <a:off x="0" y="71967"/>
            <a:ext cx="4046622" cy="62956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Ben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fits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C213CFF-A3B1-4045-9D1E-96CB3C9D6FF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6BC43E5-A5BA-CED0-098D-7193591AB475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Reduces stress, anxiety, and loneliness</a:t>
            </a:r>
          </a:p>
          <a:p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Provides emotional support anytime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Helps user’s express feelings freely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 feels non-judgmental and comforting</a:t>
            </a:r>
          </a:p>
        </p:txBody>
      </p:sp>
    </p:spTree>
    <p:extLst>
      <p:ext uri="{BB962C8B-B14F-4D97-AF65-F5344CB8AC3E}">
        <p14:creationId xmlns:p14="http://schemas.microsoft.com/office/powerpoint/2010/main" val="3437041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2742-1177-33BB-B5E8-1B8C4B754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231BF95-103B-1B22-34D2-DC9D9B2A692A}"/>
              </a:ext>
            </a:extLst>
          </p:cNvPr>
          <p:cNvSpPr txBox="1"/>
          <p:nvPr/>
        </p:nvSpPr>
        <p:spPr>
          <a:xfrm>
            <a:off x="0" y="71967"/>
            <a:ext cx="4046622" cy="62956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9AA5947-F290-80F3-946B-9E80BCE420C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92F32CCF-5208-BF4E-6625-54FBC06EBFF1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Emotional dependency on AI companions</a:t>
            </a:r>
          </a:p>
          <a:p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Less interaction with real people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Increased loneliness with heavy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Privacy and safety concerns</a:t>
            </a:r>
          </a:p>
        </p:txBody>
      </p:sp>
    </p:spTree>
    <p:extLst>
      <p:ext uri="{BB962C8B-B14F-4D97-AF65-F5344CB8AC3E}">
        <p14:creationId xmlns:p14="http://schemas.microsoft.com/office/powerpoint/2010/main" val="2336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F29BA-21E3-3945-9DA7-54A5D160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1EC7B01-5CD6-1BAF-9D85-16E8BFC65FA6}"/>
              </a:ext>
            </a:extLst>
          </p:cNvPr>
          <p:cNvSpPr txBox="1"/>
          <p:nvPr/>
        </p:nvSpPr>
        <p:spPr>
          <a:xfrm>
            <a:off x="0" y="71967"/>
            <a:ext cx="4740442" cy="62956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People Bond with AI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0242BDF-9C5F-D1B7-6E5C-370302D4054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3EDE008-04A8-F7E1-3E03-2B90ADF308D4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CASA Paradigm → People treat AI like humans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Attachment Theory → Emotional bonding during loneliness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Social Presence → AI feels socially “present”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Parasocial Relationships → One-sided emotional connection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Young Adults’ Perceptions:</a:t>
            </a:r>
            <a:br>
              <a:rPr lang="en-US" sz="2000" b="1" dirty="0"/>
            </a:b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72% of teens have tried AI companions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Many users find AI easier to talk 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Some believe AI can replace romance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Others still distrust AI advice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687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1275B-8633-3317-2E7C-8FD850EC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26DDB09-0B43-9D8E-6637-0AAB13B1EB26}"/>
              </a:ext>
            </a:extLst>
          </p:cNvPr>
          <p:cNvSpPr txBox="1"/>
          <p:nvPr/>
        </p:nvSpPr>
        <p:spPr>
          <a:xfrm>
            <a:off x="0" y="71967"/>
            <a:ext cx="4046622" cy="62956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C84FF00-6DAB-EB53-13AA-F9E5223CF09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F0C52AE-BB51-0E76-DEDF-23B586D9694B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Qualitative and descriptive research approach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Based on secondary data analysis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Sources: Google Scholar, IEEE Xplore, PubMed, ACM Library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Studies from 2017 to 2026 on AI companions and young adults</a:t>
            </a:r>
          </a:p>
        </p:txBody>
      </p:sp>
    </p:spTree>
    <p:extLst>
      <p:ext uri="{BB962C8B-B14F-4D97-AF65-F5344CB8AC3E}">
        <p14:creationId xmlns:p14="http://schemas.microsoft.com/office/powerpoint/2010/main" val="328812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25B3-C529-F2DE-81A0-F5117A93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AEC3011-C4B0-C922-7538-D60BB9D24758}"/>
              </a:ext>
            </a:extLst>
          </p:cNvPr>
          <p:cNvSpPr txBox="1"/>
          <p:nvPr/>
        </p:nvSpPr>
        <p:spPr>
          <a:xfrm>
            <a:off x="0" y="71967"/>
            <a:ext cx="2141621" cy="62956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E2B51F1-BCC3-9075-BABA-6336E615472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58248D8-EBBD-F448-91FB-162DE08BEA12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 companions have both benefits and risks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Impact depends on usage intensity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Healthy balance is important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 should support, not replace, human relationships</a:t>
            </a:r>
            <a:br>
              <a:rPr lang="en-US" sz="2000" dirty="0"/>
            </a:br>
            <a:r>
              <a:rPr lang="en-US" sz="2000" dirty="0"/>
              <a:t> </a:t>
            </a:r>
          </a:p>
          <a:p>
            <a:r>
              <a:rPr lang="en-US" sz="2000" b="1" dirty="0"/>
              <a:t>Recommendations</a:t>
            </a:r>
            <a:br>
              <a:rPr lang="en-US" sz="2000" b="1" dirty="0"/>
            </a:b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AI in moderation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Maintain real-life social connections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Improve AI safety and transparency</a:t>
            </a:r>
          </a:p>
        </p:txBody>
      </p:sp>
    </p:spTree>
    <p:extLst>
      <p:ext uri="{BB962C8B-B14F-4D97-AF65-F5344CB8AC3E}">
        <p14:creationId xmlns:p14="http://schemas.microsoft.com/office/powerpoint/2010/main" val="1346858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34729</TotalTime>
  <Words>533</Words>
  <Application>Microsoft Office PowerPoint</Application>
  <PresentationFormat>On-screen Show (4:3)</PresentationFormat>
  <Paragraphs>87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Akriti Sharma</cp:lastModifiedBy>
  <cp:revision>2302</cp:revision>
  <dcterms:created xsi:type="dcterms:W3CDTF">2010-04-09T07:36:15Z</dcterms:created>
  <dcterms:modified xsi:type="dcterms:W3CDTF">2026-05-19T09:37:56Z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